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65" r:id="rId5"/>
    <p:sldId id="270" r:id="rId6"/>
    <p:sldId id="260" r:id="rId7"/>
    <p:sldId id="261" r:id="rId8"/>
    <p:sldId id="262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9"/>
        <p:guide pos="379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24024" y="1392020"/>
            <a:ext cx="7413498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  <a:tabLst>
                <a:tab pos="2362200" algn="l"/>
              </a:tabLst>
            </a:pPr>
            <a:r>
              <a:rPr 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SimSun" panose="02010600030101010101" pitchFamily="2" charset="-122"/>
                <a:sym typeface="+mn-ea"/>
              </a:rPr>
              <a:t>CSA1220</a:t>
            </a:r>
            <a:r>
              <a:rPr lang="en-I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SimSun" panose="02010600030101010101" pitchFamily="2" charset="-122"/>
                <a:sym typeface="+mn-ea"/>
              </a:rPr>
              <a:t> –</a:t>
            </a:r>
            <a:r>
              <a:rPr lang="en-US" altLang="en-I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SimSun" panose="02010600030101010101" pitchFamily="2" charset="-122"/>
                <a:sym typeface="+mn-ea"/>
              </a:rPr>
              <a:t> Computer Architecture</a:t>
            </a:r>
            <a:endParaRPr lang="en-US" altLang="en-IN" sz="24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charset="0"/>
              <a:cs typeface="SimSun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2580" y="2656840"/>
            <a:ext cx="1186878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400" b="1" kern="100" dirty="0"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Impedance Mismatch Effects: Analyze the consequences of impedance </a:t>
            </a:r>
            <a:endParaRPr lang="en-US" altLang="en-US" sz="2400" b="1" kern="100" dirty="0">
              <a:effectLst/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2400" b="1" kern="100" dirty="0"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mismatch such as standing waves and signal loss.</a:t>
            </a:r>
            <a:endParaRPr lang="en-US" altLang="en-US" sz="2400" b="1" kern="100" dirty="0">
              <a:effectLst/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6574" y="5984230"/>
            <a:ext cx="802614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85720">
              <a:lnSpc>
                <a:spcPct val="100000"/>
              </a:lnSpc>
              <a:spcBef>
                <a:spcPts val="650"/>
              </a:spcBef>
            </a:pPr>
            <a:r>
              <a:rPr lang="en-US" sz="1800" b="1" spc="-2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lang="en-US" sz="1800" b="1" spc="-55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ENGINEERING,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sz="1800" b="1" spc="-4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lang="en-US" sz="1800" b="1" spc="-95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INSTITUTE OF</a:t>
            </a:r>
            <a:r>
              <a:rPr lang="en-US" sz="1800" b="1" spc="-6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lang="en-US" sz="1800" b="1" spc="-195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1800" b="1" spc="-3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lang="en-US" sz="1800" b="1" spc="-10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SCIENCES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07252" y="4362699"/>
            <a:ext cx="5515356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algn="ctr">
              <a:lnSpc>
                <a:spcPct val="150000"/>
              </a:lnSpc>
              <a:spcBef>
                <a:spcPts val="720"/>
              </a:spcBef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lang="en-US" sz="20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Aswin M </a:t>
            </a:r>
            <a:r>
              <a:rPr lang="en-US" alt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192412437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7210" y="4352290"/>
            <a:ext cx="5558155" cy="199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35"/>
              </a:spcBef>
            </a:pPr>
            <a:r>
              <a:rPr lang="sv-SE"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sv-SE"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sv-SE" sz="2000" b="1" spc="-1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2700" marR="5080" algn="ctr">
              <a:lnSpc>
                <a:spcPct val="150000"/>
              </a:lnSpc>
              <a:spcBef>
                <a:spcPts val="135"/>
              </a:spcBef>
            </a:pPr>
            <a:r>
              <a:rPr lang="en-US" altLang="fr-FR" sz="20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20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</a:t>
            </a:r>
            <a:r>
              <a:rPr lang="en-US" altLang="fr-FR" sz="20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</a:t>
            </a:r>
            <a:r>
              <a:rPr lang="fr-FR" sz="20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fr-FR" sz="20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Radhika</a:t>
            </a:r>
            <a:endParaRPr lang="fr-FR" sz="2000" b="1" spc="-4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50000"/>
              </a:lnSpc>
              <a:spcBef>
                <a:spcPts val="135"/>
              </a:spcBef>
            </a:pP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50000"/>
              </a:lnSpc>
              <a:spcBef>
                <a:spcPts val="135"/>
              </a:spcBef>
            </a:pPr>
            <a:endParaRPr lang="sv-S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5" y="328295"/>
            <a:ext cx="8239125" cy="12001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41220" y="1814830"/>
            <a:ext cx="75819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  <a:spcAft>
                <a:spcPts val="800"/>
              </a:spcAft>
              <a:buNone/>
              <a:tabLst>
                <a:tab pos="2362200" algn="l"/>
              </a:tabLst>
            </a:pPr>
            <a:r>
              <a:rPr lang="en-US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SimSun" panose="02010600030101010101" pitchFamily="2" charset="-122"/>
                <a:sym typeface="+mn-ea"/>
              </a:rPr>
              <a:t>CO1 Assessment Tool - III</a:t>
            </a:r>
            <a:endParaRPr lang="en-US" sz="2400" b="1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charset="0"/>
              <a:cs typeface="SimSun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2190" y="458470"/>
            <a:ext cx="802703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Modern Processor Architecture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775" y="1744345"/>
            <a:ext cx="6417945" cy="2688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Processor Architecture?</a:t>
            </a:r>
            <a:endParaRPr lang="en-US" altLang="en-US" sz="24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Processor architecture defines how a CPU is designed and how it executes instructions.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includes the Instruction Set Architecture (ISA), registers, memory organization, cache, and execution units.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processors use advanced techniques to achieve high performance with low power consumption.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7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39775" y="5008880"/>
            <a:ext cx="7355205" cy="10864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  <a:spcBef>
                <a:spcPts val="900"/>
              </a:spcBef>
              <a:spcAft>
                <a:spcPts val="200"/>
              </a:spcAft>
            </a:pPr>
            <a:r>
              <a:rPr sz="24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Evolution of Processors</a:t>
            </a:r>
            <a:endParaRPr sz="24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Single Core → Multicore → Multithreading → Heterogeneous Computing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5990" y="458470"/>
            <a:ext cx="563626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Modern Processors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0235" y="1625600"/>
            <a:ext cx="9085580" cy="5419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processors improve performance using several architectural techniques.</a:t>
            </a:r>
            <a:endParaRPr lang="en-US" alt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Multicore Processing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Pipelining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Cache Memory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Out-of-Order Execution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 Prediction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Modern Architectures</a:t>
            </a:r>
            <a:endParaRPr lang="en-US" alt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ARM Cortex – RISC-based architecture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Intel Core – x86-based architecture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AMD Ryzen – x86-based architecture</a:t>
            </a: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7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95" y="328295"/>
            <a:ext cx="8239125" cy="12001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49580" y="2593340"/>
            <a:ext cx="5080000" cy="330898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Arm based on the ARM instruction set architecture.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Primarily follows a RISC (Reduced Instruction Set Computer) approach.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high performance with excellent power efficiency.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048000" y="15951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ARM Cortex Architecture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188710" y="2406968"/>
            <a:ext cx="5080000" cy="2214880"/>
          </a:xfrm>
          <a:prstGeom prst="rect">
            <a:avLst/>
          </a:prstGeom>
        </p:spPr>
        <p:txBody>
          <a:bodyPr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sz="20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Advantages</a:t>
            </a:r>
            <a:endParaRPr sz="20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Low power consumption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High energy efficiency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Suitable for compact devices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Widely used in embedded systems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67080" y="2096453"/>
            <a:ext cx="5080000" cy="42989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2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Overview</a:t>
            </a:r>
            <a:endParaRPr sz="22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42975" y="5034915"/>
            <a:ext cx="5080000" cy="2076450"/>
          </a:xfrm>
          <a:prstGeom prst="rect">
            <a:avLst/>
          </a:prstGeom>
        </p:spPr>
        <p:txBody>
          <a:bodyPr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sz="20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ARM Cortex Families</a:t>
            </a:r>
            <a:endParaRPr sz="20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Cortex-A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Application processors</a:t>
            </a:r>
            <a:endParaRPr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Smartphones, tablets, laptops</a:t>
            </a:r>
            <a:endParaRPr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endParaRPr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025900" y="5251450"/>
            <a:ext cx="609600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  <a:sym typeface="+mn-ea"/>
              </a:rPr>
              <a:t>Cortex-</a:t>
            </a:r>
            <a:r>
              <a:rPr lang="en-US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  <a:sym typeface="+mn-ea"/>
              </a:rPr>
              <a:t>M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sz="160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  <a:sym typeface="+mn-ea"/>
              </a:rPr>
              <a:t>Microcontrollers</a:t>
            </a:r>
            <a:endParaRPr lang="en-US" sz="160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IOT and Embedded Systems</a:t>
            </a:r>
            <a:endParaRPr lang="en-US"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7147560" y="5270500"/>
            <a:ext cx="609600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  <a:sym typeface="+mn-ea"/>
              </a:rPr>
              <a:t>Cortex-</a:t>
            </a:r>
            <a:r>
              <a:rPr lang="en-US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  <a:sym typeface="+mn-ea"/>
              </a:rPr>
              <a:t>R</a:t>
            </a:r>
            <a:endParaRPr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Real-time applications</a:t>
            </a:r>
            <a:endParaRPr lang="en-US"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Automotive and Industrial systems</a:t>
            </a:r>
            <a:endParaRPr lang="en-US"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3020" y="458470"/>
            <a:ext cx="47237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 Core Architecture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9395" y="1838960"/>
            <a:ext cx="9085580" cy="5019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7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sp>
        <p:nvSpPr>
          <p:cNvPr id="25" name="Text Box 24"/>
          <p:cNvSpPr txBox="1"/>
          <p:nvPr/>
        </p:nvSpPr>
        <p:spPr>
          <a:xfrm>
            <a:off x="449580" y="2312670"/>
            <a:ext cx="5080000" cy="330898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processors are based on the x86/x86-64 instruction set architecture.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general-purpose and high-performance computing.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 extensively in laptops, desktops, and workstations.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188710" y="1856423"/>
            <a:ext cx="5080000" cy="3046095"/>
          </a:xfrm>
          <a:prstGeom prst="rect">
            <a:avLst/>
          </a:prstGeom>
        </p:spPr>
        <p:txBody>
          <a:bodyPr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en-US" sz="20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Key Features</a:t>
            </a:r>
            <a:endParaRPr lang="en-US" altLang="en-US" sz="20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Multicore processing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Multithreading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Multi-level cache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Advanced branch prediction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Out-of-order execution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Performance-focused processor designs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54075" y="174275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Overview</a:t>
            </a:r>
            <a:endParaRPr sz="24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90060" y="519430"/>
            <a:ext cx="51574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AMD Ryzen Architecture</a:t>
            </a:r>
            <a:endParaRPr lang="en-US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7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449580" y="2593340"/>
            <a:ext cx="5080000" cy="330898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AMD Ryzen processors use the x86-64 architecture.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high-performance computing and multitasking.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Modern Ryzen processors are based on AMD's Zen architecture family.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88710" y="1737678"/>
            <a:ext cx="5080000" cy="2630170"/>
          </a:xfrm>
          <a:prstGeom prst="rect">
            <a:avLst/>
          </a:prstGeom>
        </p:spPr>
        <p:txBody>
          <a:bodyPr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sz="20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Advantages</a:t>
            </a:r>
            <a:endParaRPr sz="20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Multicore processing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Simultaneous Multithreading (SMT)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Multi-level cache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High core and thread counts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Efficient CPU design</a:t>
            </a:r>
            <a:endParaRPr lang="en-US" altLang="en-US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920115" y="525145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en-US"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Chiplet-Based Design</a:t>
            </a:r>
            <a:endParaRPr lang="en-US" altLang="en-US"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en-US" sz="1600" b="0" i="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</a:rPr>
              <a:t>Many modern AMD processors use multiple smaller chiplets connected within a processor package.</a:t>
            </a:r>
            <a:endParaRPr lang="en-US" altLang="en-US" sz="1600" b="0" i="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75640" y="19469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rgbClr val="0D0D0D"/>
                </a:solidFill>
                <a:latin typeface="Times New Roman" panose="02020603050405020304" pitchFamily="18" charset="0"/>
                <a:ea typeface="-apple-system-body"/>
                <a:cs typeface="Times New Roman" panose="02020603050405020304" pitchFamily="18" charset="0"/>
                <a:sym typeface="+mn-ea"/>
              </a:rPr>
              <a:t>Overview</a:t>
            </a:r>
            <a:endParaRPr lang="en-US" sz="2400">
              <a:solidFill>
                <a:srgbClr val="0D0D0D"/>
              </a:solidFill>
              <a:latin typeface="Times New Roman" panose="02020603050405020304" pitchFamily="18" charset="0"/>
              <a:ea typeface="-apple-system-body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33900" y="694690"/>
            <a:ext cx="277431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6050" y="1765935"/>
            <a:ext cx="8930005" cy="37255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Impedance mismatch causes reflections in microwave circuits.</a:t>
            </a:r>
            <a:endParaRPr lang="en-US" altLang="en-US" sz="24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Reflection coefficient quantifies reflected waves.</a:t>
            </a:r>
            <a:endParaRPr lang="en-US" altLang="en-US" sz="24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Standing waves are formed due to interference between incident and reflected waves.</a:t>
            </a:r>
            <a:endParaRPr lang="en-US" altLang="en-US" sz="24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VSWR indicates poor matching.</a:t>
            </a:r>
            <a:endParaRPr lang="en-US" altLang="en-US" sz="24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efficiency decreases as reflected power increases.</a:t>
            </a:r>
            <a:endParaRPr lang="en-US" altLang="en-US" sz="24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7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643" y="187706"/>
            <a:ext cx="1104265" cy="1343660"/>
          </a:xfrm>
          <a:prstGeom prst="rect">
            <a:avLst/>
          </a:prstGeom>
        </p:spPr>
      </p:pic>
      <p:pic>
        <p:nvPicPr>
          <p:cNvPr id="7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3811" y="187706"/>
            <a:ext cx="1527175" cy="1349375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2430145" y="1283335"/>
            <a:ext cx="6790690" cy="44659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2744</Words>
  <Application>WPS Presentation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Times New Roman</vt:lpstr>
      <vt:lpstr>Calibri</vt:lpstr>
      <vt:lpstr>Times New Roman</vt:lpstr>
      <vt:lpstr>-apple-system-body</vt:lpstr>
      <vt:lpstr>Segoe Print</vt:lpstr>
      <vt:lpstr>Microsoft YaHei</vt:lpstr>
      <vt:lpstr>Arial Unicode MS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Admin</dc:creator>
  <cp:lastModifiedBy>WPS_1727843197</cp:lastModifiedBy>
  <cp:revision>19</cp:revision>
  <dcterms:created xsi:type="dcterms:W3CDTF">2026-06-03T00:37:00Z</dcterms:created>
  <dcterms:modified xsi:type="dcterms:W3CDTF">2026-08-06T05:36:19Z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25B653DAA2A04171B2EE211979A2DAD5_13</vt:lpwstr>
  </property>
</Properties>
</file>